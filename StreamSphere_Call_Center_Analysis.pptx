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Calls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Jan26</c:v>
                </c:pt>
                <c:pt idx="13">
                  <c:v>Feb26</c:v>
                </c:pt>
                <c:pt idx="14">
                  <c:v>Mar26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340</c:v>
                </c:pt>
                <c:pt idx="1">
                  <c:v>321</c:v>
                </c:pt>
                <c:pt idx="2">
                  <c:v>345</c:v>
                </c:pt>
                <c:pt idx="3">
                  <c:v>345</c:v>
                </c:pt>
                <c:pt idx="4">
                  <c:v>360</c:v>
                </c:pt>
                <c:pt idx="5">
                  <c:v>333</c:v>
                </c:pt>
                <c:pt idx="6">
                  <c:v>368</c:v>
                </c:pt>
                <c:pt idx="7">
                  <c:v>379</c:v>
                </c:pt>
                <c:pt idx="8">
                  <c:v>346</c:v>
                </c:pt>
                <c:pt idx="9">
                  <c:v>364</c:v>
                </c:pt>
                <c:pt idx="10">
                  <c:v>338</c:v>
                </c:pt>
                <c:pt idx="11">
                  <c:v>387</c:v>
                </c:pt>
                <c:pt idx="12">
                  <c:v>383</c:v>
                </c:pt>
                <c:pt idx="13">
                  <c:v>286</c:v>
                </c:pt>
                <c:pt idx="14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7D-48A5-8683-4C624B7CF7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Unanswered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Jan26</c:v>
                </c:pt>
                <c:pt idx="13">
                  <c:v>Feb26</c:v>
                </c:pt>
                <c:pt idx="14">
                  <c:v>Mar26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62</c:v>
                </c:pt>
                <c:pt idx="1">
                  <c:v>54</c:v>
                </c:pt>
                <c:pt idx="2">
                  <c:v>68</c:v>
                </c:pt>
                <c:pt idx="3">
                  <c:v>64</c:v>
                </c:pt>
                <c:pt idx="4">
                  <c:v>66</c:v>
                </c:pt>
                <c:pt idx="5">
                  <c:v>71</c:v>
                </c:pt>
                <c:pt idx="6">
                  <c:v>67</c:v>
                </c:pt>
                <c:pt idx="7">
                  <c:v>67</c:v>
                </c:pt>
                <c:pt idx="8">
                  <c:v>61</c:v>
                </c:pt>
                <c:pt idx="9">
                  <c:v>60</c:v>
                </c:pt>
                <c:pt idx="10">
                  <c:v>69</c:v>
                </c:pt>
                <c:pt idx="11">
                  <c:v>88</c:v>
                </c:pt>
                <c:pt idx="12">
                  <c:v>61</c:v>
                </c:pt>
                <c:pt idx="13">
                  <c:v>60</c:v>
                </c:pt>
                <c:pt idx="1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7D-48A5-8683-4C624B7C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 Volume by Topic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E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Streaming</c:v>
                </c:pt>
                <c:pt idx="1">
                  <c:v>Technical Support</c:v>
                </c:pt>
                <c:pt idx="2">
                  <c:v>Payment related</c:v>
                </c:pt>
                <c:pt idx="3">
                  <c:v>Admin Support</c:v>
                </c:pt>
                <c:pt idx="4">
                  <c:v>Contract related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1022</c:v>
                </c:pt>
                <c:pt idx="1">
                  <c:v>1019</c:v>
                </c:pt>
                <c:pt idx="2">
                  <c:v>1007</c:v>
                </c:pt>
                <c:pt idx="3">
                  <c:v>976</c:v>
                </c:pt>
                <c:pt idx="4">
                  <c:v>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87-4472-8E03-CF413E5E67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C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96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A7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</a:t>
            </a:r>
            <a:r>
              <a:rPr lang="en-US" sz="1600" dirty="0">
                <a:solidFill>
                  <a:srgbClr val="A7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Analysis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Obase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operational challenges impacting customer experience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3832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73152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" y="111556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Calls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19% of calls (946 of 5,000) go unanswered, eroding customer trust and accessibility.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914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914400"/>
            <a:ext cx="73152" cy="164592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0972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 of answer is 67.5 seconds; some customers wait over 2 minutes before connection.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914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914400"/>
            <a:ext cx="73152" cy="164592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084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Issues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answered calls remain unresolved; Streaming and Payment topics show lower resolution rates.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65760" y="27432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743200"/>
            <a:ext cx="73152" cy="164592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260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Agent Performance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and resolution rates vary across the 8 agents; Joe and Stewart lag in key metrics.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246120" y="27432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46120" y="2743200"/>
            <a:ext cx="73152" cy="164592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92608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4048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Satisfaction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42900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satisfaction averages 3.4/5; ratings drop when talk duration or wait times are extreme.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126480" y="27432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26480" y="2743200"/>
            <a:ext cx="73152" cy="164592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926080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2084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Topics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30936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Technical Support dominate volume, signalling potential product or process gaps.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set out to achieve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68680"/>
            <a:ext cx="64008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1612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 in calls received, answered, and unanswered over time (Jan 2025 – Mar 2026).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90472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490472"/>
            <a:ext cx="64008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4904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536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17830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individual agents on answer rate, resolution rate, response speed, and satisfaction.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12264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112264"/>
            <a:ext cx="64008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1122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21579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Resolution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4048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overall and topic-level resolution rates; pinpoint low-resolution areas.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34056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734056"/>
            <a:ext cx="64008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7340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27797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Issue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0266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most common topics and which issues require the most time or effort.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55848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355848"/>
            <a:ext cx="64008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3558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34015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Assessment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364845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how speed of answer and talk duration influence satisfaction ratings.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977640"/>
            <a:ext cx="64008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40233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Review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2702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bottlenecks and deliver actionable recommendations for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Technologies Ltd.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and preparation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91440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months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call id    •  agent    •  date    •  time    •  topic    •  answered (Y/N)    •  resolved    •  speed of answer (sec)    •  avg talk duration    •  satisfaction rating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Notes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calls correctly show blank speed and satisfaction fields; talk duration set to 0.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call IDs; dates span 1 Jan 2025 – 9 Mar 2026.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ratings (1–5) available only for answered calls (4,054 records).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flag present for all records; analysis of resolution rate performed both overall and on answered subset.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Technologies Ltd.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overall call-center health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4,054 of 5,000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2743200" cy="73152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461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Rate*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answered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 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264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Speed of Answered Calls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74320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min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6576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Talk Duration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calls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27432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743200"/>
            <a:ext cx="2743200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 / 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2461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Satisfaction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4612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4,054 ratings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27432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743200"/>
            <a:ext cx="2743200" cy="73152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12648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Calls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2648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946 calls lost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Technologies Ltd.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call volume &amp; answer trends</a:t>
            </a:r>
            <a:endParaRPr lang="en-US" sz="2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86868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9144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Volume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&amp; Jan 2026 saw highest call volumes (387 &amp; 383). Unanswered peaked in Dec (88).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Gap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508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rate stays ~18–20% every month — a structural capacity issue, not seasonal.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comparison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82611"/>
              </p:ext>
            </p:extLst>
          </p:nvPr>
        </p:nvGraphicFramePr>
        <p:xfrm>
          <a:off x="365760" y="868680"/>
          <a:ext cx="5227846" cy="3291840"/>
        </p:xfrm>
        <a:graphic>
          <a:graphicData uri="http://schemas.openxmlformats.org/drawingml/2006/table">
            <a:tbl>
              <a:tblPr/>
              <a:tblGrid>
                <a:gridCol w="852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6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%*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Stewart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Becky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Resolve % calculated on answered calls only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B8FB7B-2CDA-482B-E2A0-7C66D2E51B44}"/>
                  </a:ext>
                </a:extLst>
              </p:cNvPr>
              <p:cNvSpPr txBox="1"/>
              <p:nvPr/>
            </p:nvSpPr>
            <p:spPr>
              <a:xfrm>
                <a:off x="5726036" y="536028"/>
                <a:ext cx="3216165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1200" b="1" dirty="0"/>
                  <a:t>Top CSAT Performer:</a:t>
                </a:r>
                <a:r>
                  <a:rPr lang="en-US" sz="1200" dirty="0"/>
                  <a:t> Martha leads the team in Customer Satisfaction (</a:t>
                </a:r>
                <a:r>
                  <a:rPr lang="en-US" sz="1200" b="1" dirty="0"/>
                  <a:t>3.47</a:t>
                </a:r>
                <a:r>
                  <a:rPr lang="en-US" sz="1200" dirty="0"/>
                  <a:t>), proving that resolution quality outweighs response speed (</a:t>
                </a:r>
                <a14:m>
                  <m:oMath xmlns:m="http://schemas.openxmlformats.org/officeDocument/2006/math">
                    <m:r>
                      <a:rPr lang="en-US" sz="1200"/>
                      <m:t>69</m:t>
                    </m:r>
                    <m:r>
                      <m:rPr>
                        <m:nor/>
                      </m:rPr>
                      <a:rPr lang="en-US" sz="1200"/>
                      <m:t>s</m:t>
                    </m:r>
                  </m:oMath>
                </a14:m>
                <a:r>
                  <a:rPr lang="en-US" sz="1200" dirty="0"/>
                  <a:t> avg speed). </a:t>
                </a:r>
              </a:p>
              <a:p>
                <a:pPr lvl="0"/>
                <a:r>
                  <a:rPr lang="en-US" sz="1200" b="1" dirty="0"/>
                  <a:t>Best Operational All-Rounder:</a:t>
                </a:r>
                <a:r>
                  <a:rPr lang="en-US" sz="1200" dirty="0"/>
                  <a:t> Dan achieves the highest overall operational balance with an </a:t>
                </a:r>
                <a:r>
                  <a:rPr lang="en-US" sz="1200" b="1" dirty="0"/>
                  <a:t>82.6% Answer Rate</a:t>
                </a:r>
                <a:r>
                  <a:rPr lang="en-US" sz="1200" dirty="0"/>
                  <a:t>, </a:t>
                </a:r>
                <a:r>
                  <a:rPr lang="en-US" sz="1200" b="1" dirty="0"/>
                  <a:t>90.1% Resolution Rate</a:t>
                </a:r>
                <a:r>
                  <a:rPr lang="en-US" sz="1200" dirty="0"/>
                  <a:t>, and </a:t>
                </a:r>
                <a:r>
                  <a:rPr lang="en-US" sz="1200" b="1" dirty="0"/>
                  <a:t>3.45 CSAT</a:t>
                </a:r>
                <a:r>
                  <a:rPr lang="en-US" sz="1200" dirty="0"/>
                  <a:t>. </a:t>
                </a:r>
              </a:p>
              <a:p>
                <a:pPr lvl="0"/>
                <a:r>
                  <a:rPr lang="en-US" sz="1200" b="1" dirty="0"/>
                  <a:t>High Volume Leader:</a:t>
                </a:r>
                <a:r>
                  <a:rPr lang="en-US" sz="1200" dirty="0"/>
                  <a:t> Jim handled the highest call volume (</a:t>
                </a:r>
                <a:r>
                  <a:rPr lang="en-US" sz="1200" b="1" dirty="0"/>
                  <a:t>666 calls</a:t>
                </a:r>
                <a:r>
                  <a:rPr lang="en-US" sz="1200" dirty="0"/>
                  <a:t>) while maintaining a strong </a:t>
                </a:r>
                <a:r>
                  <a:rPr lang="en-US" sz="1200" b="1" dirty="0"/>
                  <a:t>90.5% Resolution Rate</a:t>
                </a:r>
                <a:r>
                  <a:rPr lang="en-US" sz="1200" dirty="0"/>
                  <a:t>. </a:t>
                </a:r>
              </a:p>
              <a:p>
                <a:pPr lvl="0"/>
                <a:r>
                  <a:rPr lang="en-US" sz="1200" b="1" dirty="0"/>
                  <a:t>Tight Metric Clustering:</a:t>
                </a:r>
                <a:r>
                  <a:rPr lang="en-US" sz="1200" dirty="0"/>
                  <a:t> Resolution rates across all 8 agents remain highly consistent within a narrow band of </a:t>
                </a:r>
                <a:r>
                  <a:rPr lang="en-US" sz="1200" b="1" dirty="0"/>
                  <a:t>88.9% to 90.6%</a:t>
                </a:r>
                <a:r>
                  <a:rPr lang="en-US" sz="1200" dirty="0"/>
                  <a:t>. </a:t>
                </a:r>
              </a:p>
              <a:p>
                <a:pPr lvl="0"/>
                <a:r>
                  <a:rPr lang="en-US" sz="1200" b="1" dirty="0"/>
                  <a:t>Speed vs. Satisfaction Disconnect:</a:t>
                </a:r>
                <a:r>
                  <a:rPr lang="en-US" sz="1200" dirty="0"/>
                  <a:t> Becky delivers the fastest average answer time (</a:t>
                </a:r>
                <a:r>
                  <a:rPr lang="en-US" sz="1200" b="1" dirty="0"/>
                  <a:t>65s</a:t>
                </a:r>
                <a:r>
                  <a:rPr lang="en-US" sz="1200" dirty="0"/>
                  <a:t>), yet records a lower CSAT score (</a:t>
                </a:r>
                <a:r>
                  <a:rPr lang="en-US" sz="1200" b="1" dirty="0"/>
                  <a:t>3.37</a:t>
                </a:r>
                <a:r>
                  <a:rPr lang="en-US" sz="1200" dirty="0"/>
                  <a:t>), reinforcing that speed alone does not satisfy callers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B8FB7B-2CDA-482B-E2A0-7C66D2E51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36" y="536028"/>
                <a:ext cx="3216165" cy="3693319"/>
              </a:xfrm>
              <a:prstGeom prst="rect">
                <a:avLst/>
              </a:prstGeom>
              <a:blipFill>
                <a:blip r:embed="rId3"/>
                <a:stretch>
                  <a:fillRect t="-165" r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&amp; SATISFACTION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mix and drivers of customer ratings</a:t>
            </a:r>
            <a:endParaRPr lang="en-US" sz="2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86868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846320" y="8686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834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by Topic (answered)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83480" y="1325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 —  91.4%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Support  —  90.9%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related  —  89.9%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related  —  89.1%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 —  88.4%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26060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834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Drivers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83480" y="3108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waits (&gt;120 s) correlate with lower satisfaction (3.28). Moderate waits (90–120 s) still average 3.46. Talk duration alone is a weaker predictor than first-call resolution.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Technologies Ltd.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and improvement opportunities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68680"/>
            <a:ext cx="109728" cy="8229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9784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 unanswered rate is stable month-over-month. Staffing or queue management is insufficient for peak demand.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83080"/>
            <a:ext cx="109728" cy="8229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92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Answer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67.5 s; 25% of answered calls wait &gt;90 s. Long waits reduce satisfaction and increase abandonment risk.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97480"/>
            <a:ext cx="109728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072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First-Call Resolution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108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issues have the lowest resolution rate (88.4%). These may need specialised knowledge or escalation paths.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11880"/>
            <a:ext cx="109728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216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Variance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has lowest avg satisfaction (3.33) and highest avg speed (71 s). Stewart has lowest resolution among answered (88.9%). Targeted coaching needed.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5 calls is never answered — a persistent structural issue across all months.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600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answered, resolution is strong (≈90%), but Streaming and Payment topics lag slightly.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286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is relatively tight; Martha and Dan lead on satisfaction; Joe and Stewart need support.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of 67 s is acceptable, yet waits beyond 2 minutes clearly hurt satisfaction.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is highest in Dec–Jan; capacity planning should anticipate seasonal peaks.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to improve service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91440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418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Capacity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staffing or introduce callback / IVR self-service for peak hours. Target unanswered rate &lt; 10% within 90 days.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00200"/>
            <a:ext cx="91440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733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Wait Times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1920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skills-based routing and real-time queue alerts. Aim for 80% of calls answered within 45 seconds.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31720"/>
            <a:ext cx="91440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048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First-Call Resolution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651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specialised playbooks for Streaming and Payment issues; equip agents with better knowledge-base tools.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63240"/>
            <a:ext cx="91440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363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Agent Coaching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coaching on Joe (speed &amp; satisfaction) and Stewart (resolution). Share best practices from Martha &amp; Dan.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94760"/>
            <a:ext cx="91440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679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Iterate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interactive dashboard weekly. Track answer rate, ASA, FCR and CSAT by agent and topic as leading indicators.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analysis and dashboard, leadership now has clear visibility into where capacity, speed, resolution and agent performance are constraining customer experience — and a concrete roadmap to fix them.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1202</Words>
  <Application>Microsoft Office PowerPoint</Application>
  <PresentationFormat>On-screen Show (16:9)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StreamSphere Customer Support Operations Analysis</dc:title>
  <dc:subject>Call Center Performance Dashboard Insights</dc:subject>
  <dc:creator>Data Analytics Team</dc:creator>
  <cp:lastModifiedBy>Stella Obase</cp:lastModifiedBy>
  <cp:revision>2</cp:revision>
  <dcterms:created xsi:type="dcterms:W3CDTF">2026-09-13T12:44:15Z</dcterms:created>
  <dcterms:modified xsi:type="dcterms:W3CDTF">2026-09-13T13:11:40Z</dcterms:modified>
</cp:coreProperties>
</file>